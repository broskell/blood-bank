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9" name="Shape 9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143000" y="841771"/>
            <a:ext cx="6858000" cy="1790701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143000" y="2701527"/>
            <a:ext cx="6858000" cy="124182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342900" algn="ctr">
              <a:buSzTx/>
              <a:buFontTx/>
              <a:buNone/>
              <a:defRPr sz="1800"/>
            </a:lvl2pPr>
            <a:lvl3pPr marL="0" indent="685800" algn="ctr">
              <a:buSzTx/>
              <a:buFontTx/>
              <a:buNone/>
              <a:defRPr sz="1800"/>
            </a:lvl3pPr>
            <a:lvl4pPr marL="0" indent="1028700" algn="ctr">
              <a:buSzTx/>
              <a:buFontTx/>
              <a:buNone/>
              <a:defRPr sz="1800"/>
            </a:lvl4pPr>
            <a:lvl5pPr marL="0" indent="1371600" algn="ctr">
              <a:buSzTx/>
              <a:buFontTx/>
              <a:buNone/>
              <a:defRPr sz="1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623887" y="1282303"/>
            <a:ext cx="7886701" cy="2139554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3887" y="3442098"/>
            <a:ext cx="7886701" cy="1125141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757575"/>
                </a:solidFill>
              </a:defRPr>
            </a:lvl1pPr>
            <a:lvl2pPr marL="0" indent="342900">
              <a:buSzTx/>
              <a:buFontTx/>
              <a:buNone/>
              <a:defRPr sz="1800">
                <a:solidFill>
                  <a:srgbClr val="757575"/>
                </a:solidFill>
              </a:defRPr>
            </a:lvl2pPr>
            <a:lvl3pPr marL="0" indent="685800">
              <a:buSzTx/>
              <a:buFontTx/>
              <a:buNone/>
              <a:defRPr sz="1800">
                <a:solidFill>
                  <a:srgbClr val="757575"/>
                </a:solidFill>
              </a:defRPr>
            </a:lvl3pPr>
            <a:lvl4pPr marL="0" indent="1028700">
              <a:buSzTx/>
              <a:buFontTx/>
              <a:buNone/>
              <a:defRPr sz="1800">
                <a:solidFill>
                  <a:srgbClr val="757575"/>
                </a:solidFill>
              </a:defRPr>
            </a:lvl4pPr>
            <a:lvl5pPr marL="0" indent="1371600">
              <a:buSzTx/>
              <a:buFontTx/>
              <a:buNone/>
              <a:defRPr sz="1800">
                <a:solidFill>
                  <a:srgbClr val="75757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629841" y="273843"/>
            <a:ext cx="7886701" cy="99417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9841" y="1260871"/>
            <a:ext cx="3868341" cy="617935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800" b="1"/>
            </a:lvl1pPr>
            <a:lvl2pPr marL="0" indent="342900">
              <a:buSzTx/>
              <a:buFontTx/>
              <a:buNone/>
              <a:defRPr sz="1800" b="1"/>
            </a:lvl2pPr>
            <a:lvl3pPr marL="0" indent="685800">
              <a:buSzTx/>
              <a:buFontTx/>
              <a:buNone/>
              <a:defRPr sz="1800" b="1"/>
            </a:lvl3pPr>
            <a:lvl4pPr marL="0" indent="1028700">
              <a:buSzTx/>
              <a:buFontTx/>
              <a:buNone/>
              <a:defRPr sz="1800" b="1"/>
            </a:lvl4pPr>
            <a:lvl5pPr marL="0" indent="1371600">
              <a:buSzTx/>
              <a:buFontTx/>
              <a:buNone/>
              <a:defRPr sz="18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29149" y="1260871"/>
            <a:ext cx="3887393" cy="617935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18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887391" y="740568"/>
            <a:ext cx="4629151" cy="365522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538842" indent="-195942">
              <a:defRPr sz="2400"/>
            </a:lvl2pPr>
            <a:lvl3pPr marL="914400" indent="-228600">
              <a:defRPr sz="2400"/>
            </a:lvl3pPr>
            <a:lvl4pPr marL="1303019" indent="-274319">
              <a:defRPr sz="2400"/>
            </a:lvl4pPr>
            <a:lvl5pPr marL="1645920" indent="-274320"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629840" y="1543049"/>
            <a:ext cx="2949180" cy="285869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2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3887391" y="740568"/>
            <a:ext cx="4629151" cy="365522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29841" y="1543050"/>
            <a:ext cx="2949178" cy="285869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200"/>
            </a:lvl1pPr>
            <a:lvl2pPr marL="0" indent="342900">
              <a:buSzTx/>
              <a:buFontTx/>
              <a:buNone/>
              <a:defRPr sz="1200"/>
            </a:lvl2pPr>
            <a:lvl3pPr marL="0" indent="685800">
              <a:buSzTx/>
              <a:buFontTx/>
              <a:buNone/>
              <a:defRPr sz="1200"/>
            </a:lvl3pPr>
            <a:lvl4pPr marL="0" indent="1028700">
              <a:buSzTx/>
              <a:buFontTx/>
              <a:buNone/>
              <a:defRPr sz="1200"/>
            </a:lvl4pPr>
            <a:lvl5pPr marL="0" indent="1371600">
              <a:buSzTx/>
              <a:buFontTx/>
              <a:buNone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28650" y="273843"/>
            <a:ext cx="7886700" cy="994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284073" y="4788614"/>
            <a:ext cx="231278" cy="2311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3056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16485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19914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23343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26772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30201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HL-MJCntsGnkG7gMM1HOqV06SXyqj5RP" TargetMode="Externa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 txBox="1"/>
          <p:nvPr/>
        </p:nvSpPr>
        <p:spPr>
          <a:xfrm>
            <a:off x="1009325" y="1670685"/>
            <a:ext cx="7125349" cy="669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5400"/>
              </a:lnSpc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Blood Demand Prediction</a:t>
            </a:r>
          </a:p>
        </p:txBody>
      </p:sp>
      <p:sp>
        <p:nvSpPr>
          <p:cNvPr id="102" name="Text 1"/>
          <p:cNvSpPr txBox="1"/>
          <p:nvPr/>
        </p:nvSpPr>
        <p:spPr>
          <a:xfrm>
            <a:off x="2284728" y="2508885"/>
            <a:ext cx="4574545" cy="302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AI-Driven Emergency Preparedness System</a:t>
            </a:r>
          </a:p>
        </p:txBody>
      </p:sp>
      <p:sp>
        <p:nvSpPr>
          <p:cNvPr id="103" name="Text 2"/>
          <p:cNvSpPr txBox="1"/>
          <p:nvPr/>
        </p:nvSpPr>
        <p:spPr>
          <a:xfrm>
            <a:off x="2885875" y="3286125"/>
            <a:ext cx="3372131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1000">
                <a:solidFill>
                  <a:srgbClr val="D0D0D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Healthcare Innovation for Better Resource Management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796" y="0"/>
            <a:ext cx="5103345" cy="514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doors dir="vert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 txBox="1"/>
          <p:nvPr/>
        </p:nvSpPr>
        <p:spPr>
          <a:xfrm>
            <a:off x="609600" y="609599"/>
            <a:ext cx="8083296" cy="397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Why This Matters</a:t>
            </a:r>
          </a:p>
        </p:txBody>
      </p:sp>
      <p:sp>
        <p:nvSpPr>
          <p:cNvPr id="108" name="Text 1"/>
          <p:cNvSpPr txBox="1"/>
          <p:nvPr/>
        </p:nvSpPr>
        <p:spPr>
          <a:xfrm>
            <a:off x="914400" y="1249679"/>
            <a:ext cx="7620000" cy="1193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Blood banks are critical lifelines during emergencies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Sudden spikes occur during accidents, surgeries, disasters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Reactive planning leads to stock-outs and delayed care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AI can shift from reactive to proactive planning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cover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 txBox="1"/>
          <p:nvPr/>
        </p:nvSpPr>
        <p:spPr>
          <a:xfrm>
            <a:off x="609600" y="609599"/>
            <a:ext cx="8083296" cy="397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Tools Used</a:t>
            </a:r>
          </a:p>
        </p:txBody>
      </p:sp>
      <p:sp>
        <p:nvSpPr>
          <p:cNvPr id="111" name="Text 1"/>
          <p:cNvSpPr txBox="1"/>
          <p:nvPr/>
        </p:nvSpPr>
        <p:spPr>
          <a:xfrm>
            <a:off x="914400" y="1249679"/>
            <a:ext cx="7620000" cy="1802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ChatGPT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Perplexity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Notebook LM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Gamma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Napkin AI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PowerPoint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cover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 txBox="1"/>
          <p:nvPr/>
        </p:nvSpPr>
        <p:spPr>
          <a:xfrm>
            <a:off x="609600" y="609599"/>
            <a:ext cx="8083296" cy="397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Industry Overview</a:t>
            </a:r>
          </a:p>
        </p:txBody>
      </p:sp>
      <p:sp>
        <p:nvSpPr>
          <p:cNvPr id="114" name="Text 1"/>
          <p:cNvSpPr txBox="1"/>
          <p:nvPr/>
        </p:nvSpPr>
        <p:spPr>
          <a:xfrm>
            <a:off x="609600" y="1249680"/>
            <a:ext cx="8083296" cy="21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sz="1300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Current blood bank operations rely on historical averages and manual planning.</a:t>
            </a:r>
          </a:p>
        </p:txBody>
      </p:sp>
      <p:sp>
        <p:nvSpPr>
          <p:cNvPr id="115" name="Text 2"/>
          <p:cNvSpPr txBox="1"/>
          <p:nvPr/>
        </p:nvSpPr>
        <p:spPr>
          <a:xfrm>
            <a:off x="914400" y="1642110"/>
            <a:ext cx="7620000" cy="888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Challenge:</a:t>
            </a:r>
            <a:r>
              <a:rPr b="0">
                <a:solidFill>
                  <a:srgbClr val="F0F0F0"/>
                </a:solidFill>
              </a:rPr>
              <a:t> Delayed response during emergencies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Impact:</a:t>
            </a:r>
            <a:r>
              <a:rPr b="0">
                <a:solidFill>
                  <a:srgbClr val="F0F0F0"/>
                </a:solidFill>
              </a:rPr>
              <a:t> Frequent stock-outs and high procurement costs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Gap:</a:t>
            </a:r>
            <a:r>
              <a:rPr b="0">
                <a:solidFill>
                  <a:srgbClr val="F0F0F0"/>
                </a:solidFill>
              </a:rPr>
              <a:t> No predictive capability for demand spikes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cover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609" y="78722"/>
            <a:ext cx="4790780" cy="47634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ll dir="u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Table 0"/>
          <p:cNvGraphicFramePr/>
          <p:nvPr/>
        </p:nvGraphicFramePr>
        <p:xfrm>
          <a:off x="609600" y="1249680"/>
          <a:ext cx="7924800" cy="20116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Source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Purpose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Historical Blood Usage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Identify consumption trends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Accident Records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Predict emergency demand spikes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Surgery Schedules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Estimate planned blood usage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Seasonal Trends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Account for predictable variations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0" name="Text 0"/>
          <p:cNvSpPr txBox="1"/>
          <p:nvPr/>
        </p:nvSpPr>
        <p:spPr>
          <a:xfrm>
            <a:off x="609600" y="609599"/>
            <a:ext cx="8083296" cy="397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Data Inputs for Prediction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ll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124" y="169558"/>
            <a:ext cx="4645750" cy="47068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switch dir="r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Table 0"/>
          <p:cNvGraphicFramePr/>
          <p:nvPr/>
        </p:nvGraphicFramePr>
        <p:xfrm>
          <a:off x="609600" y="1249680"/>
          <a:ext cx="7924800" cy="115824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O+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A+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B+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AB+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Jan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410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320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290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1,105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Jun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520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410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370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1,410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5" name="Text 0"/>
          <p:cNvSpPr txBox="1"/>
          <p:nvPr/>
        </p:nvSpPr>
        <p:spPr>
          <a:xfrm>
            <a:off x="609600" y="609599"/>
            <a:ext cx="8083296" cy="397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Monthly Blood Demand Trends</a:t>
            </a:r>
          </a:p>
        </p:txBody>
      </p:sp>
      <p:sp>
        <p:nvSpPr>
          <p:cNvPr id="126" name="Text 1"/>
          <p:cNvSpPr txBox="1"/>
          <p:nvPr/>
        </p:nvSpPr>
        <p:spPr>
          <a:xfrm>
            <a:off x="609600" y="2560320"/>
            <a:ext cx="8083296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400"/>
              </a:lnSpc>
              <a:defRPr sz="1000" b="1">
                <a:solidFill>
                  <a:srgbClr val="D0D0D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Key insight:</a:t>
            </a:r>
            <a:r>
              <a:rPr b="0"/>
              <a:t> O+ has highest demand; demand increases seasonally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ll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17" y="84779"/>
            <a:ext cx="7179766" cy="47536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cover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" name="Table 0"/>
          <p:cNvGraphicFramePr/>
          <p:nvPr/>
        </p:nvGraphicFramePr>
        <p:xfrm>
          <a:off x="609600" y="1249680"/>
          <a:ext cx="7924800" cy="16078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955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 Type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Patients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Units Required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Road Accident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 units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Industrial Accident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 units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Natural Disaster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 units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1" name="Text 0"/>
          <p:cNvSpPr txBox="1"/>
          <p:nvPr/>
        </p:nvSpPr>
        <p:spPr>
          <a:xfrm>
            <a:off x="609600" y="609599"/>
            <a:ext cx="8083296" cy="397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Emergency Demand Spikes</a:t>
            </a:r>
          </a:p>
        </p:txBody>
      </p:sp>
      <p:sp>
        <p:nvSpPr>
          <p:cNvPr id="132" name="Text 1"/>
          <p:cNvSpPr txBox="1"/>
          <p:nvPr/>
        </p:nvSpPr>
        <p:spPr>
          <a:xfrm>
            <a:off x="609600" y="3009900"/>
            <a:ext cx="8083296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400"/>
              </a:lnSpc>
              <a:defRPr sz="1000" b="1">
                <a:solidFill>
                  <a:srgbClr val="D0D0D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Problem:</a:t>
            </a:r>
            <a:r>
              <a:rPr b="0"/>
              <a:t> Cannot handle with average-based planning alone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640" y="127168"/>
            <a:ext cx="6432719" cy="46567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00">
        <p15:prstTrans prst="pageCurlDouble"/>
      </p:transition>
    </mc:Choice>
    <mc:Choice xmlns:p14="http://schemas.microsoft.com/office/powerpoint/2010/main" xmlns:a14="http://schemas.microsoft.com/office/drawing/2010/main" xmlns:m="http://schemas.openxmlformats.org/officeDocument/2006/math" xmlns="" Requires="p14">
      <p:transition spd="slow" advClick="1" p14:dur="1200">
        <p:pageCurlDoubl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 txBox="1"/>
          <p:nvPr/>
        </p:nvSpPr>
        <p:spPr>
          <a:xfrm>
            <a:off x="609600" y="609599"/>
            <a:ext cx="8083296" cy="397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AI Prediction System Design</a:t>
            </a:r>
          </a:p>
        </p:txBody>
      </p:sp>
      <p:sp>
        <p:nvSpPr>
          <p:cNvPr id="137" name="Text 1"/>
          <p:cNvSpPr txBox="1"/>
          <p:nvPr/>
        </p:nvSpPr>
        <p:spPr>
          <a:xfrm>
            <a:off x="914400" y="1249679"/>
            <a:ext cx="7620000" cy="1193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Input:</a:t>
            </a:r>
            <a:r>
              <a:rPr b="0">
                <a:solidFill>
                  <a:srgbClr val="F0F0F0"/>
                </a:solidFill>
              </a:rPr>
              <a:t> Historical data, accident records, surgery schedules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Processing:</a:t>
            </a:r>
            <a:r>
              <a:rPr b="0">
                <a:solidFill>
                  <a:srgbClr val="F0F0F0"/>
                </a:solidFill>
              </a:rPr>
              <a:t> AI model analyzes patterns and trends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Output:</a:t>
            </a:r>
            <a:r>
              <a:rPr b="0">
                <a:solidFill>
                  <a:srgbClr val="F0F0F0"/>
                </a:solidFill>
              </a:rPr>
              <a:t> Demand forecasts and stock level recommendations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Action:</a:t>
            </a:r>
            <a:r>
              <a:rPr b="0">
                <a:solidFill>
                  <a:srgbClr val="F0F0F0"/>
                </a:solidFill>
              </a:rPr>
              <a:t> Alerts to blood banks for proactive planning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cover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77" y="285750"/>
            <a:ext cx="7245247" cy="4572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00">
        <p15:prstTrans prst="peelOff" invX="1"/>
      </p:transition>
    </mc:Choice>
    <mc:Choice xmlns:p14="http://schemas.microsoft.com/office/powerpoint/2010/main" xmlns:a14="http://schemas.microsoft.com/office/drawing/2010/main" xmlns:m="http://schemas.openxmlformats.org/officeDocument/2006/math" xmlns="" Requires="p14">
      <p:transition spd="slow" advClick="1" p14:dur="1200">
        <p:peelOff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Table 0"/>
          <p:cNvGraphicFramePr/>
          <p:nvPr/>
        </p:nvGraphicFramePr>
        <p:xfrm>
          <a:off x="609600" y="1249680"/>
          <a:ext cx="7924800" cy="16078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1955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Actual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Predicted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Variance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Jan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1,268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1,245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-23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Apr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1,452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1,470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+18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Jun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1,580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1,602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1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+22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2" name="Text 0"/>
          <p:cNvSpPr txBox="1"/>
          <p:nvPr/>
        </p:nvSpPr>
        <p:spPr>
          <a:xfrm>
            <a:off x="609600" y="609599"/>
            <a:ext cx="8083296" cy="397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AI Prediction Accuracy</a:t>
            </a:r>
          </a:p>
        </p:txBody>
      </p:sp>
      <p:sp>
        <p:nvSpPr>
          <p:cNvPr id="143" name="Text 1"/>
          <p:cNvSpPr txBox="1"/>
          <p:nvPr/>
        </p:nvSpPr>
        <p:spPr>
          <a:xfrm>
            <a:off x="609600" y="3009900"/>
            <a:ext cx="8083296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400"/>
              </a:lnSpc>
              <a:defRPr sz="1000" b="1">
                <a:solidFill>
                  <a:srgbClr val="D0D0D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Result:</a:t>
            </a:r>
            <a:r>
              <a:rPr b="0"/>
              <a:t> Predictions are close to actual demand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cover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90" y="181668"/>
            <a:ext cx="7505620" cy="45841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00">
        <p15:prstTrans prst="peelOff" invX="1"/>
      </p:transition>
    </mc:Choice>
    <mc:Choice xmlns:p14="http://schemas.microsoft.com/office/powerpoint/2010/main" xmlns:a14="http://schemas.microsoft.com/office/drawing/2010/main" xmlns:m="http://schemas.openxmlformats.org/officeDocument/2006/math" xmlns="" Requires="p14">
      <p:transition spd="slow" advClick="1" p14:dur="1200">
        <p:peelOff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circl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098" y="979032"/>
            <a:ext cx="6271803" cy="31854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00">
        <p15:prstTrans prst="pageCurlDouble"/>
      </p:transition>
    </mc:Choice>
    <mc:Choice xmlns:p14="http://schemas.microsoft.com/office/powerpoint/2010/main" xmlns:a14="http://schemas.microsoft.com/office/drawing/2010/main" xmlns:m="http://schemas.openxmlformats.org/officeDocument/2006/math" xmlns="" Requires="p14">
      <p:transition spd="slow" advClick="1" p14:dur="1200">
        <p:pageCurlDoubl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BUSINESS CASE"/>
          <p:cNvSpPr txBox="1">
            <a:spLocks noGrp="1"/>
          </p:cNvSpPr>
          <p:nvPr>
            <p:ph type="title" idx="4294967295"/>
          </p:nvPr>
        </p:nvSpPr>
        <p:spPr>
          <a:xfrm>
            <a:off x="457199" y="321824"/>
            <a:ext cx="8229601" cy="4026127"/>
          </a:xfrm>
          <a:prstGeom prst="rect">
            <a:avLst/>
          </a:prstGeom>
        </p:spPr>
        <p:txBody>
          <a:bodyPr/>
          <a:lstStyle>
            <a:lvl1pPr algn="ctr">
              <a:defRPr sz="4600">
                <a:solidFill>
                  <a:srgbClr val="FFFFFF"/>
                </a:solidFill>
              </a:defRPr>
            </a:lvl1pPr>
          </a:lstStyle>
          <a:p>
            <a:r>
              <a:t>BUSINESS CASE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cover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ritical Healthcare Challenge…"/>
          <p:cNvSpPr txBox="1">
            <a:spLocks noGrp="1"/>
          </p:cNvSpPr>
          <p:nvPr>
            <p:ph type="body" idx="4294967295"/>
          </p:nvPr>
        </p:nvSpPr>
        <p:spPr>
          <a:xfrm>
            <a:off x="457200" y="963667"/>
            <a:ext cx="8229600" cy="3967848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FontTx/>
              <a:buNone/>
              <a:defRPr sz="14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Critical Healthcare Challenge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Blood is </a:t>
            </a:r>
            <a:r>
              <a:t>perishable</a:t>
            </a:r>
            <a:r>
              <a:rPr b="0"/>
              <a:t>, life-saving, and </a:t>
            </a:r>
            <a:r>
              <a:t>cannot be manufactured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Emergencies (accidents, surgeries, disasters) create </a:t>
            </a:r>
            <a:r>
              <a:rPr b="1"/>
              <a:t>sudden demand spikes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Current blood bank systems are </a:t>
            </a:r>
            <a:r>
              <a:rPr b="1"/>
              <a:t>reactive, manual, and outdated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FontTx/>
              <a:buNone/>
              <a:defRPr sz="14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Key Pain Points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❌ No real-time or predictive demand visibility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❌ Blood shortages during emergencies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❌ Over-stocking leads to </a:t>
            </a:r>
            <a:r>
              <a:rPr b="1"/>
              <a:t>high wastage &amp; expiry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❌ Emergency procurement is </a:t>
            </a:r>
            <a:r>
              <a:rPr b="1"/>
              <a:t>expensive and slow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❌ Delays directly </a:t>
            </a:r>
            <a:r>
              <a:rPr b="1"/>
              <a:t>cost patient lives</a:t>
            </a:r>
          </a:p>
        </p:txBody>
      </p:sp>
      <p:sp>
        <p:nvSpPr>
          <p:cNvPr id="154" name="The Problem &amp; Market Need"/>
          <p:cNvSpPr txBox="1">
            <a:spLocks noGrp="1"/>
          </p:cNvSpPr>
          <p:nvPr>
            <p:ph type="title" idx="4294967295"/>
          </p:nvPr>
        </p:nvSpPr>
        <p:spPr>
          <a:xfrm>
            <a:off x="457200" y="69056"/>
            <a:ext cx="8229600" cy="766175"/>
          </a:xfrm>
          <a:prstGeom prst="rect">
            <a:avLst/>
          </a:prstGeom>
        </p:spPr>
        <p:txBody>
          <a:bodyPr/>
          <a:lstStyle>
            <a:lvl1pPr algn="ctr" defTabSz="457200">
              <a:lnSpc>
                <a:spcPct val="100000"/>
              </a:lnSpc>
              <a:defRPr sz="2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The Problem &amp; Market Need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he AI-Driven Solution (What We Built)"/>
          <p:cNvSpPr txBox="1">
            <a:spLocks noGrp="1"/>
          </p:cNvSpPr>
          <p:nvPr>
            <p:ph type="title" idx="4294967295"/>
          </p:nvPr>
        </p:nvSpPr>
        <p:spPr>
          <a:xfrm>
            <a:off x="457200" y="275328"/>
            <a:ext cx="8229600" cy="530445"/>
          </a:xfrm>
          <a:prstGeom prst="rect">
            <a:avLst/>
          </a:prstGeom>
        </p:spPr>
        <p:txBody>
          <a:bodyPr/>
          <a:lstStyle/>
          <a:p>
            <a:pPr algn="ctr" defTabSz="182880">
              <a:lnSpc>
                <a:spcPct val="100000"/>
              </a:lnSpc>
              <a:spcBef>
                <a:spcPts val="500"/>
              </a:spcBef>
              <a:defRPr sz="176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AI-Driven Solution (What We Built)</a:t>
            </a:r>
          </a:p>
          <a:p>
            <a:pPr defTabSz="182880">
              <a:lnSpc>
                <a:spcPct val="100000"/>
              </a:lnSpc>
              <a:spcBef>
                <a:spcPts val="500"/>
              </a:spcBef>
              <a:defRPr sz="560" b="1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  <p:sp>
        <p:nvSpPr>
          <p:cNvPr id="157" name="AI-Driven Blood Demand Prediction System…"/>
          <p:cNvSpPr txBox="1">
            <a:spLocks noGrp="1"/>
          </p:cNvSpPr>
          <p:nvPr>
            <p:ph type="body" idx="4294967295"/>
          </p:nvPr>
        </p:nvSpPr>
        <p:spPr>
          <a:xfrm>
            <a:off x="457200" y="1007118"/>
            <a:ext cx="8229600" cy="4038053"/>
          </a:xfrm>
          <a:prstGeom prst="rect">
            <a:avLst/>
          </a:prstGeom>
        </p:spPr>
        <p:txBody>
          <a:bodyPr/>
          <a:lstStyle/>
          <a:p>
            <a:pPr marL="0" indent="0" defTabSz="406908">
              <a:lnSpc>
                <a:spcPct val="100000"/>
              </a:lnSpc>
              <a:spcBef>
                <a:spcPts val="1200"/>
              </a:spcBef>
              <a:buSzTx/>
              <a:buFontTx/>
              <a:buNone/>
              <a:defRPr sz="1246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AI-Driven Blood Demand Prediction System</a:t>
            </a:r>
          </a:p>
          <a:p>
            <a:pPr marL="0" indent="0" defTabSz="406908">
              <a:lnSpc>
                <a:spcPct val="100000"/>
              </a:lnSpc>
              <a:spcBef>
                <a:spcPts val="1000"/>
              </a:spcBef>
              <a:buSzTx/>
              <a:buFontTx/>
              <a:buNone/>
              <a:defRPr sz="1068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</a:t>
            </a:r>
            <a:r>
              <a:rPr b="1"/>
              <a:t>decision-support platform</a:t>
            </a:r>
            <a:r>
              <a:t> for proactive blood inventory planning.</a:t>
            </a:r>
          </a:p>
          <a:p>
            <a:pPr marL="0" indent="0" defTabSz="406908">
              <a:lnSpc>
                <a:spcPct val="100000"/>
              </a:lnSpc>
              <a:spcBef>
                <a:spcPts val="1200"/>
              </a:spcBef>
              <a:buSzTx/>
              <a:buFontTx/>
              <a:buNone/>
              <a:defRPr sz="1246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What the System Does</a:t>
            </a:r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Font typeface="Times Roman"/>
              <a:defRPr sz="1068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📊 Analyses </a:t>
            </a:r>
            <a:r>
              <a:t>5–10 years of historical blood usage</a:t>
            </a:r>
            <a:endParaRPr b="0"/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Font typeface="Times Roman"/>
              <a:defRPr sz="1068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🚑 Integrates emergency &amp; hospital admission patterns</a:t>
            </a:r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Font typeface="Times Roman"/>
              <a:defRPr sz="1068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🏥 Considers surgery schedules and hospital demand</a:t>
            </a:r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Font typeface="Times Roman"/>
              <a:defRPr sz="1068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📆 Accounts for </a:t>
            </a:r>
            <a:r>
              <a:t>seasonal &amp; festival trends</a:t>
            </a:r>
            <a:endParaRPr b="0"/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Font typeface="Times Roman"/>
              <a:defRPr sz="1068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🩸 Predicts </a:t>
            </a:r>
            <a:r>
              <a:t>blood demand by blood group</a:t>
            </a:r>
            <a:endParaRPr b="0"/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Font typeface="Times Roman"/>
              <a:defRPr sz="1068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🔔 Sends </a:t>
            </a:r>
            <a:r>
              <a:rPr b="1"/>
              <a:t>early alerts</a:t>
            </a:r>
            <a:r>
              <a:t> for stock preparation</a:t>
            </a:r>
          </a:p>
          <a:p>
            <a:pPr marL="0" indent="0" defTabSz="406908">
              <a:lnSpc>
                <a:spcPct val="100000"/>
              </a:lnSpc>
              <a:spcBef>
                <a:spcPts val="1200"/>
              </a:spcBef>
              <a:buSzTx/>
              <a:buFontTx/>
              <a:buNone/>
              <a:defRPr sz="1246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Key Differentiator</a:t>
            </a:r>
          </a:p>
          <a:p>
            <a:pPr marL="0" indent="0" defTabSz="406908">
              <a:lnSpc>
                <a:spcPct val="100000"/>
              </a:lnSpc>
              <a:spcBef>
                <a:spcPts val="1000"/>
              </a:spcBef>
              <a:buSzTx/>
              <a:buFontTx/>
              <a:buNone/>
              <a:defRPr sz="1068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Moves blood banks from reactive crisis management to predictive preparedness</a:t>
            </a:r>
            <a:endParaRPr b="0"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Business Impact &amp; Value Proposition"/>
          <p:cNvSpPr txBox="1">
            <a:spLocks noGrp="1"/>
          </p:cNvSpPr>
          <p:nvPr>
            <p:ph type="title" idx="4294967295"/>
          </p:nvPr>
        </p:nvSpPr>
        <p:spPr>
          <a:xfrm>
            <a:off x="457200" y="275670"/>
            <a:ext cx="8229600" cy="755535"/>
          </a:xfrm>
          <a:prstGeom prst="rect">
            <a:avLst/>
          </a:prstGeom>
        </p:spPr>
        <p:txBody>
          <a:bodyPr/>
          <a:lstStyle>
            <a:lvl1pPr algn="ctr" defTabSz="457200">
              <a:lnSpc>
                <a:spcPct val="100000"/>
              </a:lnSpc>
              <a:defRPr sz="23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Business Impact &amp; Value Proposition</a:t>
            </a:r>
          </a:p>
        </p:txBody>
      </p:sp>
      <p:sp>
        <p:nvSpPr>
          <p:cNvPr id="160" name="Operational Impact…"/>
          <p:cNvSpPr txBox="1">
            <a:spLocks noGrp="1"/>
          </p:cNvSpPr>
          <p:nvPr>
            <p:ph type="body" idx="4294967295"/>
          </p:nvPr>
        </p:nvSpPr>
        <p:spPr>
          <a:xfrm>
            <a:off x="457200" y="1200150"/>
            <a:ext cx="8229600" cy="3770128"/>
          </a:xfrm>
          <a:prstGeom prst="rect">
            <a:avLst/>
          </a:prstGeom>
        </p:spPr>
        <p:txBody>
          <a:bodyPr/>
          <a:lstStyle/>
          <a:p>
            <a:pPr marL="0" indent="0" defTabSz="278892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915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Operational Impact</a:t>
            </a:r>
          </a:p>
          <a:p>
            <a:pPr marL="278892" indent="-193675" defTabSz="278892">
              <a:lnSpc>
                <a:spcPct val="100000"/>
              </a:lnSpc>
              <a:buFont typeface="Times Roman"/>
              <a:defRPr sz="915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✅ Fewer emergency shortages</a:t>
            </a:r>
          </a:p>
          <a:p>
            <a:pPr marL="278892" indent="-193675" defTabSz="278892">
              <a:lnSpc>
                <a:spcPct val="100000"/>
              </a:lnSpc>
              <a:buFont typeface="Times Roman"/>
              <a:defRPr sz="915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✅ Faster response during critical situations</a:t>
            </a:r>
          </a:p>
          <a:p>
            <a:pPr marL="278892" indent="-193675" defTabSz="278892">
              <a:lnSpc>
                <a:spcPct val="100000"/>
              </a:lnSpc>
              <a:buFont typeface="Times Roman"/>
              <a:defRPr sz="915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✅ Better coordination between hospitals &amp; blood banks</a:t>
            </a:r>
          </a:p>
          <a:p>
            <a:pPr marL="0" indent="0" defTabSz="278892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915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Financial Impact</a:t>
            </a:r>
          </a:p>
          <a:p>
            <a:pPr marL="278892" indent="-193675" defTabSz="278892">
              <a:lnSpc>
                <a:spcPct val="100000"/>
              </a:lnSpc>
              <a:buFont typeface="Times Roman"/>
              <a:defRPr sz="915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💰 Reduced emergency procurement costs</a:t>
            </a:r>
          </a:p>
          <a:p>
            <a:pPr marL="278892" indent="-193675" defTabSz="278892">
              <a:lnSpc>
                <a:spcPct val="100000"/>
              </a:lnSpc>
              <a:buFont typeface="Times Roman"/>
              <a:defRPr sz="915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📉 Lower blood wastage &amp; expiry losses</a:t>
            </a:r>
          </a:p>
          <a:p>
            <a:pPr marL="278892" indent="-193675" defTabSz="278892">
              <a:lnSpc>
                <a:spcPct val="100000"/>
              </a:lnSpc>
              <a:buFont typeface="Times Roman"/>
              <a:defRPr sz="915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📦 Optimised storage &amp; logistics utilisation</a:t>
            </a:r>
          </a:p>
          <a:p>
            <a:pPr marL="0" indent="0" defTabSz="278892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915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Social &amp; Healthcare Impact</a:t>
            </a:r>
          </a:p>
          <a:p>
            <a:pPr marL="278892" indent="-193675" defTabSz="278892">
              <a:lnSpc>
                <a:spcPct val="100000"/>
              </a:lnSpc>
              <a:buFont typeface="Times Roman"/>
              <a:defRPr sz="915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❤️ </a:t>
            </a:r>
            <a:r>
              <a:t>Lives saved through timely blood availability</a:t>
            </a:r>
            <a:endParaRPr b="0"/>
          </a:p>
          <a:p>
            <a:pPr marL="278892" indent="-193675" defTabSz="278892">
              <a:lnSpc>
                <a:spcPct val="100000"/>
              </a:lnSpc>
              <a:buFont typeface="Times Roman"/>
              <a:defRPr sz="915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🏥 Improved patient outcomes</a:t>
            </a:r>
          </a:p>
          <a:p>
            <a:pPr marL="278892" indent="-193675" defTabSz="278892">
              <a:lnSpc>
                <a:spcPct val="100000"/>
              </a:lnSpc>
              <a:buFont typeface="Times Roman"/>
              <a:defRPr sz="915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🌍 Stronger public trust in healthcare infrastructure</a:t>
            </a:r>
          </a:p>
          <a:p>
            <a:pPr marL="0" indent="0" defTabSz="278892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915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Strategic Value</a:t>
            </a:r>
          </a:p>
          <a:p>
            <a:pPr marL="0" indent="0" defTabSz="278892">
              <a:lnSpc>
                <a:spcPct val="100000"/>
              </a:lnSpc>
              <a:buSzTx/>
              <a:buFontTx/>
              <a:buNone/>
              <a:defRPr sz="915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Scalable, data-driven healthcare infrastructure with real-world impact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ROJECT CHARTER"/>
          <p:cNvSpPr txBox="1">
            <a:spLocks noGrp="1"/>
          </p:cNvSpPr>
          <p:nvPr>
            <p:ph type="title" idx="4294967295"/>
          </p:nvPr>
        </p:nvSpPr>
        <p:spPr>
          <a:xfrm>
            <a:off x="457199" y="1784685"/>
            <a:ext cx="8229601" cy="2095432"/>
          </a:xfrm>
          <a:prstGeom prst="rect">
            <a:avLst/>
          </a:prstGeom>
        </p:spPr>
        <p:txBody>
          <a:bodyPr/>
          <a:lstStyle/>
          <a:p>
            <a:pPr algn="ctr" defTabSz="457200">
              <a:lnSpc>
                <a:spcPct val="100000"/>
              </a:lnSpc>
              <a:spcBef>
                <a:spcPts val="1400"/>
              </a:spcBef>
              <a:defRPr sz="30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PROJECT CHARTER 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AI-Driven Blood Demand Prediction System…"/>
          <p:cNvSpPr txBox="1">
            <a:spLocks noGrp="1"/>
          </p:cNvSpPr>
          <p:nvPr>
            <p:ph type="body" idx="4294967295"/>
          </p:nvPr>
        </p:nvSpPr>
        <p:spPr>
          <a:xfrm>
            <a:off x="334579" y="999078"/>
            <a:ext cx="8229601" cy="3942974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FontTx/>
              <a:buNone/>
              <a:defRPr sz="12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AI-Driven Blood Demand Prediction System</a:t>
            </a:r>
            <a:endParaRPr b="0"/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FontTx/>
              <a:buNone/>
              <a:defRPr sz="14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Critical Problem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Blood banks operate in </a:t>
            </a:r>
            <a:r>
              <a:t>high-risk, time-critical environments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Emergencies cause </a:t>
            </a:r>
            <a:r>
              <a:t>sudden, unpredictable spikes</a:t>
            </a:r>
            <a:r>
              <a:rPr b="0"/>
              <a:t> in blood demand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Current systems rely on </a:t>
            </a:r>
            <a:r>
              <a:t>manual planning &amp; historical averages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Result: </a:t>
            </a:r>
            <a:r>
              <a:t>Shortages, wastage, higher costs, and risk to patient lives</a:t>
            </a:r>
            <a:endParaRPr b="0"/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FontTx/>
              <a:buNone/>
              <a:defRPr sz="14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Our Vision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Shift blood bank operations from </a:t>
            </a:r>
            <a:r>
              <a:rPr b="1"/>
              <a:t>reactive</a:t>
            </a:r>
            <a:r>
              <a:t> to </a:t>
            </a:r>
            <a:r>
              <a:rPr b="1"/>
              <a:t>predictive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Enable </a:t>
            </a:r>
            <a:r>
              <a:t>data-driven emergency preparedness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Support decision-makers with </a:t>
            </a:r>
            <a:r>
              <a:rPr b="1"/>
              <a:t>AI-powered demand insights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Strengthen the </a:t>
            </a:r>
            <a:r>
              <a:t>healthcare emergency response ecosystem</a:t>
            </a:r>
          </a:p>
        </p:txBody>
      </p:sp>
      <p:sp>
        <p:nvSpPr>
          <p:cNvPr id="165" name="Project Vision &amp; Strategic Importance"/>
          <p:cNvSpPr txBox="1">
            <a:spLocks noGrp="1"/>
          </p:cNvSpPr>
          <p:nvPr>
            <p:ph type="title" idx="4294967295"/>
          </p:nvPr>
        </p:nvSpPr>
        <p:spPr>
          <a:xfrm>
            <a:off x="334579" y="95332"/>
            <a:ext cx="8229601" cy="666306"/>
          </a:xfrm>
          <a:prstGeom prst="rect">
            <a:avLst/>
          </a:prstGeom>
        </p:spPr>
        <p:txBody>
          <a:bodyPr/>
          <a:lstStyle>
            <a:lvl1pPr algn="ctr" defTabSz="457200">
              <a:lnSpc>
                <a:spcPct val="100000"/>
              </a:lnSpc>
              <a:defRPr sz="23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Project Vision &amp; Strategic Importance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olution Overview &amp; Value Proposition"/>
          <p:cNvSpPr txBox="1">
            <a:spLocks noGrp="1"/>
          </p:cNvSpPr>
          <p:nvPr>
            <p:ph type="title" idx="4294967295"/>
          </p:nvPr>
        </p:nvSpPr>
        <p:spPr>
          <a:xfrm>
            <a:off x="457200" y="69056"/>
            <a:ext cx="8229600" cy="817255"/>
          </a:xfrm>
          <a:prstGeom prst="rect">
            <a:avLst/>
          </a:prstGeom>
        </p:spPr>
        <p:txBody>
          <a:bodyPr/>
          <a:lstStyle>
            <a:lvl1pPr algn="ctr" defTabSz="457200">
              <a:lnSpc>
                <a:spcPct val="100000"/>
              </a:lnSpc>
              <a:defRPr sz="24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Solution Overview &amp; Value Proposition</a:t>
            </a:r>
          </a:p>
        </p:txBody>
      </p:sp>
      <p:sp>
        <p:nvSpPr>
          <p:cNvPr id="168" name="What We Are Building…"/>
          <p:cNvSpPr txBox="1">
            <a:spLocks noGrp="1"/>
          </p:cNvSpPr>
          <p:nvPr>
            <p:ph type="body" idx="4294967295"/>
          </p:nvPr>
        </p:nvSpPr>
        <p:spPr>
          <a:xfrm>
            <a:off x="457200" y="913544"/>
            <a:ext cx="8229600" cy="4133543"/>
          </a:xfrm>
          <a:prstGeom prst="rect">
            <a:avLst/>
          </a:prstGeom>
        </p:spPr>
        <p:txBody>
          <a:bodyPr/>
          <a:lstStyle/>
          <a:p>
            <a:pPr marL="0" indent="0" defTabSz="310895">
              <a:lnSpc>
                <a:spcPct val="100000"/>
              </a:lnSpc>
              <a:spcBef>
                <a:spcPts val="900"/>
              </a:spcBef>
              <a:buSzTx/>
              <a:buFontTx/>
              <a:buNone/>
              <a:defRPr sz="952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What We Are Building</a:t>
            </a:r>
          </a:p>
          <a:p>
            <a:pPr marL="0" indent="0" defTabSz="310895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An </a:t>
            </a:r>
            <a:r>
              <a:rPr b="1"/>
              <a:t>AI-driven predictive framework</a:t>
            </a:r>
            <a:r>
              <a:t> that forecasts blood demand during emergencies using: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Historical blood usage data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Emergency and operational patterns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Seasonal and situational demand indicators</a:t>
            </a:r>
          </a:p>
          <a:p>
            <a:pPr marL="0" indent="0" defTabSz="310895">
              <a:lnSpc>
                <a:spcPct val="100000"/>
              </a:lnSpc>
              <a:spcBef>
                <a:spcPts val="900"/>
              </a:spcBef>
              <a:buSzTx/>
              <a:buFontTx/>
              <a:buNone/>
              <a:defRPr sz="952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Core Capabilities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📊 Predictive blood demand forecasting (by blood group)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📦 Inventory planning recommendations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🚨 Early alerts for emergency preparedness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🏥 Decision support for blood bank officials</a:t>
            </a:r>
          </a:p>
          <a:p>
            <a:pPr marL="0" indent="0" defTabSz="310895">
              <a:lnSpc>
                <a:spcPct val="100000"/>
              </a:lnSpc>
              <a:spcBef>
                <a:spcPts val="900"/>
              </a:spcBef>
              <a:buSzTx/>
              <a:buFontTx/>
              <a:buNone/>
              <a:defRPr sz="952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Business &amp; Operational Value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✅ Reduced emergency blood shortages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✅ Faster emergency response times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✅ Lower emergency procurement costs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✅ Minimised blood wastage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✅ Improved coordination between hospitals &amp; blood banks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takeholder Impact, Feasibility &amp; Success Metrics"/>
          <p:cNvSpPr txBox="1">
            <a:spLocks noGrp="1"/>
          </p:cNvSpPr>
          <p:nvPr>
            <p:ph type="title" idx="4294967295"/>
          </p:nvPr>
        </p:nvSpPr>
        <p:spPr>
          <a:xfrm>
            <a:off x="457199" y="279263"/>
            <a:ext cx="8229601" cy="774523"/>
          </a:xfrm>
          <a:prstGeom prst="rect">
            <a:avLst/>
          </a:prstGeom>
        </p:spPr>
        <p:txBody>
          <a:bodyPr/>
          <a:lstStyle/>
          <a:p>
            <a:pPr algn="ctr" defTabSz="205739">
              <a:lnSpc>
                <a:spcPct val="100000"/>
              </a:lnSpc>
              <a:spcBef>
                <a:spcPts val="600"/>
              </a:spcBef>
              <a:defRPr sz="2159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Stakeholder Impact, Feasibility &amp; Success Metrics</a:t>
            </a:r>
          </a:p>
          <a:p>
            <a:pPr defTabSz="205739">
              <a:lnSpc>
                <a:spcPct val="100000"/>
              </a:lnSpc>
              <a:spcBef>
                <a:spcPts val="600"/>
              </a:spcBef>
              <a:defRPr sz="630" b="1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  <p:sp>
        <p:nvSpPr>
          <p:cNvPr id="171" name="Key Stakeholders Benefited…"/>
          <p:cNvSpPr txBox="1">
            <a:spLocks noGrp="1"/>
          </p:cNvSpPr>
          <p:nvPr>
            <p:ph type="body" idx="4294967295"/>
          </p:nvPr>
        </p:nvSpPr>
        <p:spPr>
          <a:xfrm>
            <a:off x="457200" y="919874"/>
            <a:ext cx="8229600" cy="3943351"/>
          </a:xfrm>
          <a:prstGeom prst="rect">
            <a:avLst/>
          </a:prstGeom>
        </p:spPr>
        <p:txBody>
          <a:bodyPr/>
          <a:lstStyle/>
          <a:p>
            <a:pPr marL="0" indent="0" defTabSz="310895">
              <a:lnSpc>
                <a:spcPct val="100000"/>
              </a:lnSpc>
              <a:spcBef>
                <a:spcPts val="900"/>
              </a:spcBef>
              <a:buSzTx/>
              <a:buFontTx/>
              <a:buNone/>
              <a:defRPr sz="952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Key Stakeholders Benefited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Blood Bank Administrators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Hospitals &amp; Emergency Care Units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Healthcare Policymakers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Patients &amp; the Public Healthcare System</a:t>
            </a:r>
          </a:p>
          <a:p>
            <a:pPr marL="0" indent="0" defTabSz="310895">
              <a:lnSpc>
                <a:spcPct val="100000"/>
              </a:lnSpc>
              <a:spcBef>
                <a:spcPts val="900"/>
              </a:spcBef>
              <a:buSzTx/>
              <a:buFontTx/>
              <a:buNone/>
              <a:defRPr sz="952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Responsible &amp; Practical Design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Human oversight remains central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Ethical data use &amp; privacy compliance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Gradual adoption with training &amp; phased rollout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Designed within realistic </a:t>
            </a:r>
            <a:r>
              <a:rPr b="1"/>
              <a:t>budget and data constraints</a:t>
            </a:r>
          </a:p>
          <a:p>
            <a:pPr marL="0" indent="0" defTabSz="310895">
              <a:lnSpc>
                <a:spcPct val="100000"/>
              </a:lnSpc>
              <a:spcBef>
                <a:spcPts val="900"/>
              </a:spcBef>
              <a:buSzTx/>
              <a:buFontTx/>
              <a:buNone/>
              <a:defRPr sz="952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 Success Metrics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📉 Measurable reduction in emergency shortages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⏱ Improved response times during crises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♻ Reduced blood wastage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816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👍 Positive feedback from healthcare stakeholders</a:t>
            </a:r>
          </a:p>
          <a:p>
            <a:pPr marL="0" indent="0" defTabSz="310895">
              <a:lnSpc>
                <a:spcPct val="100000"/>
              </a:lnSpc>
              <a:spcBef>
                <a:spcPts val="800"/>
              </a:spcBef>
              <a:buSzTx/>
              <a:buFontTx/>
              <a:buNone/>
              <a:defRPr sz="816" i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 </a:t>
            </a:r>
            <a:r>
              <a:t>A scalable, socially impactful solution with strong healthcare relevance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ROJECT VISION"/>
          <p:cNvSpPr txBox="1">
            <a:spLocks noGrp="1"/>
          </p:cNvSpPr>
          <p:nvPr>
            <p:ph type="title" idx="4294967295"/>
          </p:nvPr>
        </p:nvSpPr>
        <p:spPr>
          <a:xfrm>
            <a:off x="579820" y="2006203"/>
            <a:ext cx="8229601" cy="1131094"/>
          </a:xfrm>
          <a:prstGeom prst="rect">
            <a:avLst/>
          </a:prstGeom>
        </p:spPr>
        <p:txBody>
          <a:bodyPr/>
          <a:lstStyle>
            <a:lvl1pPr algn="ctr">
              <a:defRPr sz="4800">
                <a:solidFill>
                  <a:srgbClr val="FFFFFF"/>
                </a:solidFill>
              </a:defRPr>
            </a:lvl1pPr>
          </a:lstStyle>
          <a:p>
            <a:r>
              <a:t>PROJECT VISION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roblem: Emergency blood shortages due to reactive planning, unpredictable demand, and high wastage.…"/>
          <p:cNvSpPr txBox="1">
            <a:spLocks noGrp="1"/>
          </p:cNvSpPr>
          <p:nvPr>
            <p:ph type="body" idx="4294967295"/>
          </p:nvPr>
        </p:nvSpPr>
        <p:spPr>
          <a:xfrm>
            <a:off x="123705" y="173947"/>
            <a:ext cx="8896590" cy="4795606"/>
          </a:xfrm>
          <a:prstGeom prst="rect">
            <a:avLst/>
          </a:prstGeom>
        </p:spPr>
        <p:txBody>
          <a:bodyPr/>
          <a:lstStyle/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FontTx/>
              <a:buNone/>
              <a:defRPr sz="1027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Problem:</a:t>
            </a:r>
            <a:br/>
            <a:r>
              <a:t>Emergency blood shortages due to reactive planning, unpredictable demand, and high wastage.</a:t>
            </a:r>
          </a:p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FontTx/>
              <a:buNone/>
              <a:defRPr sz="1027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Vision:</a:t>
            </a:r>
            <a:br>
              <a:rPr b="0"/>
            </a:br>
            <a:r>
              <a:rPr b="0"/>
              <a:t>Build a </a:t>
            </a:r>
            <a:r>
              <a:t>data-driven, predictive blood bank ecosystem</a:t>
            </a:r>
            <a:r>
              <a:rPr b="0"/>
              <a:t> that ensures </a:t>
            </a:r>
            <a:r>
              <a:t>timely blood availability during emergencies</a:t>
            </a:r>
            <a:r>
              <a:rPr b="0"/>
              <a:t>, saving lives at scale.</a:t>
            </a:r>
          </a:p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FontTx/>
              <a:buNone/>
              <a:defRPr sz="1027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Core Value:</a:t>
            </a:r>
            <a:endParaRPr b="0"/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defRPr sz="1027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🔮 </a:t>
            </a:r>
            <a:r>
              <a:t>Predict demand before emergencies happen</a:t>
            </a:r>
            <a:endParaRPr b="0"/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defRPr sz="1027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📦 </a:t>
            </a:r>
            <a:r>
              <a:t>Proactive inventory planning</a:t>
            </a:r>
            <a:endParaRPr b="0"/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defRPr sz="1027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⏱️ </a:t>
            </a:r>
            <a:r>
              <a:t>Faster emergency response</a:t>
            </a:r>
            <a:endParaRPr b="0"/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defRPr sz="1027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🩸 </a:t>
            </a:r>
            <a:r>
              <a:t>Reduced blood wastage</a:t>
            </a:r>
            <a:endParaRPr b="0"/>
          </a:p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FontTx/>
              <a:buNone/>
              <a:defRPr sz="1027" b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Strategic Impact:</a:t>
            </a:r>
            <a:endParaRPr b="0"/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defRPr sz="1027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Strengthens healthcare emergency preparedness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defRPr sz="1027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Improves hospital–blood bank coordination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defRPr sz="1027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Builds trust in public healthcare infrastructure</a:t>
            </a:r>
          </a:p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FontTx/>
              <a:buNone/>
              <a:defRPr sz="1027" i="1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Success Indicator:</a:t>
            </a:r>
            <a:br>
              <a:rPr i="0"/>
            </a:br>
            <a:r>
              <a:rPr i="0"/>
              <a:t>👉 </a:t>
            </a:r>
            <a:r>
              <a:t>Zero critical shortages, faster response times, and predictive planning as a standard practice.</a:t>
            </a:r>
            <a:endParaRPr i="0"/>
          </a:p>
          <a:p>
            <a:pPr marL="0" indent="0" defTabSz="361188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948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FontTx/>
              <a:buNone/>
              <a:defRPr sz="948">
                <a:latin typeface="Times Roman"/>
                <a:ea typeface="Times Roman"/>
                <a:cs typeface="Times Roman"/>
                <a:sym typeface="Times Roman"/>
              </a:defRPr>
            </a:pPr>
            <a:endParaRPr i="0"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3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HIS IS THE LINK FOR THE FULL PROJECT DOCUMENTS…"/>
          <p:cNvSpPr txBox="1">
            <a:spLocks noGrp="1"/>
          </p:cNvSpPr>
          <p:nvPr>
            <p:ph type="body" idx="4294967295"/>
          </p:nvPr>
        </p:nvSpPr>
        <p:spPr>
          <a:xfrm>
            <a:off x="457199" y="600074"/>
            <a:ext cx="8229601" cy="394335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>
                <a:solidFill>
                  <a:srgbClr val="FFFFFF"/>
                </a:solidFill>
                <a:latin typeface="American Typewriter"/>
                <a:ea typeface="American Typewriter"/>
                <a:cs typeface="American Typewriter"/>
                <a:sym typeface="American Typewriter"/>
              </a:defRPr>
            </a:pPr>
            <a:r>
              <a:t>THIS IS THE LINK FOR THE FULL PROJECT DOCUMENTS </a:t>
            </a:r>
          </a:p>
          <a:p>
            <a:pPr marL="0" indent="0">
              <a:buSzTx/>
              <a:buFontTx/>
              <a:buNone/>
              <a:defRPr>
                <a:solidFill>
                  <a:srgbClr val="FFFFFF"/>
                </a:solidFill>
                <a:latin typeface="American Typewriter"/>
                <a:ea typeface="American Typewriter"/>
                <a:cs typeface="American Typewriter"/>
                <a:sym typeface="American Typewriter"/>
              </a:defRPr>
            </a:pPr>
            <a:r>
              <a:t>YOU CAN CHECK OUT</a:t>
            </a:r>
          </a:p>
          <a:p>
            <a:pPr marL="280736" indent="-280736">
              <a:buFontTx/>
              <a:buAutoNum type="arabicPeriod"/>
              <a:defRPr>
                <a:solidFill>
                  <a:srgbClr val="FFFFFF"/>
                </a:solidFill>
                <a:latin typeface="American Typewriter"/>
                <a:ea typeface="American Typewriter"/>
                <a:cs typeface="American Typewriter"/>
                <a:sym typeface="American Typewriter"/>
              </a:defRPr>
            </a:pPr>
            <a:r>
              <a:t>BUSINESS CASE</a:t>
            </a:r>
          </a:p>
          <a:p>
            <a:pPr marL="280736" indent="-280736">
              <a:buFontTx/>
              <a:buAutoNum type="arabicPeriod"/>
              <a:defRPr>
                <a:solidFill>
                  <a:srgbClr val="FFFFFF"/>
                </a:solidFill>
                <a:latin typeface="American Typewriter"/>
                <a:ea typeface="American Typewriter"/>
                <a:cs typeface="American Typewriter"/>
                <a:sym typeface="American Typewriter"/>
              </a:defRPr>
            </a:pPr>
            <a:r>
              <a:t>PROJECT CHARTER</a:t>
            </a:r>
          </a:p>
          <a:p>
            <a:pPr marL="280736" indent="-280736">
              <a:buFontTx/>
              <a:buAutoNum type="arabicPeriod"/>
              <a:defRPr>
                <a:solidFill>
                  <a:srgbClr val="FFFFFF"/>
                </a:solidFill>
                <a:latin typeface="American Typewriter"/>
                <a:ea typeface="American Typewriter"/>
                <a:cs typeface="American Typewriter"/>
                <a:sym typeface="American Typewriter"/>
              </a:defRPr>
            </a:pPr>
            <a:r>
              <a:t>PROJECT VISION</a:t>
            </a:r>
          </a:p>
          <a:p>
            <a:pPr marL="280736" indent="-280736">
              <a:buFontTx/>
              <a:buAutoNum type="arabicPeriod"/>
              <a:defRPr>
                <a:solidFill>
                  <a:srgbClr val="FFFFFF"/>
                </a:solidFill>
                <a:latin typeface="American Typewriter"/>
                <a:ea typeface="American Typewriter"/>
                <a:cs typeface="American Typewriter"/>
                <a:sym typeface="American Typewriter"/>
              </a:defRPr>
            </a:pPr>
            <a:r>
              <a:t>FRD DOCUMENT</a:t>
            </a:r>
          </a:p>
          <a:p>
            <a:pPr>
              <a:defRPr>
                <a:solidFill>
                  <a:srgbClr val="FFFFFF"/>
                </a:solidFill>
                <a:latin typeface="American Typewriter"/>
                <a:ea typeface="American Typewriter"/>
                <a:cs typeface="American Typewriter"/>
                <a:sym typeface="American Typewriter"/>
              </a:defRPr>
            </a:pPr>
            <a:endParaRPr/>
          </a:p>
          <a:p>
            <a:pPr marL="0" indent="0">
              <a:buSzTx/>
              <a:buFontTx/>
              <a:buNone/>
              <a:defRPr>
                <a:solidFill>
                  <a:srgbClr val="FFFFFF"/>
                </a:solidFill>
              </a:defRPr>
            </a:pPr>
            <a:r>
              <a:rPr u="sng"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  <a:hlinkClick r:id="rId2"/>
              </a:rPr>
              <a:t>https://drive.google.com/drive/folders/1HL-MJCntsGnkG7gMM1HOqV06SXyqj5RP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Table 0"/>
          <p:cNvGraphicFramePr/>
          <p:nvPr/>
        </p:nvGraphicFramePr>
        <p:xfrm>
          <a:off x="609600" y="1249681"/>
          <a:ext cx="7924800" cy="197358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716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Before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After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0160">
                      <a:solidFill>
                        <a:srgbClr val="FFFFFF"/>
                      </a:solidFill>
                    </a:lnB>
                    <a:solidFill>
                      <a:srgbClr val="6565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716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Stock-outs/month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0F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716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Procurement Cost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₹3,50,000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₹1,40,000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716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Blood Wastage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9%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4%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016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716"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Response Time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3.2 hrs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685800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 hrs</a:t>
                      </a: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0160">
                      <a:solidFill>
                        <a:srgbClr val="FFFFFF"/>
                      </a:solidFill>
                    </a:lnT>
                    <a:lnB w="12700"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0" name="Text 0"/>
          <p:cNvSpPr txBox="1"/>
          <p:nvPr/>
        </p:nvSpPr>
        <p:spPr>
          <a:xfrm>
            <a:off x="609600" y="609599"/>
            <a:ext cx="8083296" cy="397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Business Impact: Before vs After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 txBox="1"/>
          <p:nvPr/>
        </p:nvSpPr>
        <p:spPr>
          <a:xfrm>
            <a:off x="609600" y="609599"/>
            <a:ext cx="8083296" cy="397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Cost-Benefit Analysis</a:t>
            </a:r>
          </a:p>
        </p:txBody>
      </p:sp>
      <p:sp>
        <p:nvSpPr>
          <p:cNvPr id="183" name="Text 1"/>
          <p:cNvSpPr txBox="1"/>
          <p:nvPr/>
        </p:nvSpPr>
        <p:spPr>
          <a:xfrm>
            <a:off x="914400" y="1249681"/>
            <a:ext cx="7620000" cy="1193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Investment:</a:t>
            </a:r>
            <a:r>
              <a:rPr b="0">
                <a:solidFill>
                  <a:srgbClr val="F0F0F0"/>
                </a:solidFill>
              </a:rPr>
              <a:t> Software, data integration, staff training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Savings:</a:t>
            </a:r>
            <a:r>
              <a:rPr b="0">
                <a:solidFill>
                  <a:srgbClr val="F0F0F0"/>
                </a:solidFill>
              </a:rPr>
              <a:t> ₹2,10,000/month in emergency procurement costs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Payoff:</a:t>
            </a:r>
            <a:r>
              <a:rPr b="0">
                <a:solidFill>
                  <a:srgbClr val="F0F0F0"/>
                </a:solidFill>
              </a:rPr>
              <a:t> 2-3 months for ROI at scale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Benefits:</a:t>
            </a:r>
            <a:r>
              <a:rPr b="0">
                <a:solidFill>
                  <a:srgbClr val="F0F0F0"/>
                </a:solidFill>
              </a:rPr>
              <a:t> Lives saved, better resource utilization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cover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4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 txBox="1"/>
          <p:nvPr/>
        </p:nvSpPr>
        <p:spPr>
          <a:xfrm>
            <a:off x="609600" y="609599"/>
            <a:ext cx="8083296" cy="397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Feasibility Assessment</a:t>
            </a:r>
          </a:p>
        </p:txBody>
      </p:sp>
      <p:sp>
        <p:nvSpPr>
          <p:cNvPr id="186" name="Text 1"/>
          <p:cNvSpPr txBox="1"/>
          <p:nvPr/>
        </p:nvSpPr>
        <p:spPr>
          <a:xfrm>
            <a:off x="914400" y="1249681"/>
            <a:ext cx="7620000" cy="1193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Technical:</a:t>
            </a:r>
            <a:r>
              <a:rPr b="0">
                <a:solidFill>
                  <a:srgbClr val="F0F0F0"/>
                </a:solidFill>
              </a:rPr>
              <a:t> Existing AI/ML infrastructure is mature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Operational:</a:t>
            </a:r>
            <a:r>
              <a:rPr b="0">
                <a:solidFill>
                  <a:srgbClr val="F0F0F0"/>
                </a:solidFill>
              </a:rPr>
              <a:t> Integrates with existing blood bank systems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Ethical:</a:t>
            </a:r>
            <a:r>
              <a:rPr b="0">
                <a:solidFill>
                  <a:srgbClr val="F0F0F0"/>
                </a:solidFill>
              </a:rPr>
              <a:t> Transparent, supports human decision-making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Outcome:</a:t>
            </a:r>
            <a:r>
              <a:rPr b="0">
                <a:solidFill>
                  <a:srgbClr val="F0F0F0"/>
                </a:solidFill>
              </a:rPr>
              <a:t> Highly feasible for implementation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cover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0"/>
          <p:cNvSpPr txBox="1"/>
          <p:nvPr/>
        </p:nvSpPr>
        <p:spPr>
          <a:xfrm>
            <a:off x="2865109" y="609599"/>
            <a:ext cx="3413664" cy="533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300"/>
              </a:lnSpc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Key Takeaways</a:t>
            </a:r>
          </a:p>
        </p:txBody>
      </p:sp>
      <p:sp>
        <p:nvSpPr>
          <p:cNvPr id="189" name="Text 1"/>
          <p:cNvSpPr txBox="1"/>
          <p:nvPr/>
        </p:nvSpPr>
        <p:spPr>
          <a:xfrm>
            <a:off x="1165754" y="2038350"/>
            <a:ext cx="6812372" cy="1053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100"/>
              </a:lnSpc>
              <a:defRPr sz="1500" b="1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From Reactive to Proactive:</a:t>
            </a:r>
            <a:r>
              <a:rPr b="0"/>
              <a:t> AI-driven prediction enables better planning </a:t>
            </a:r>
          </a:p>
          <a:p>
            <a:pPr algn="ctr">
              <a:lnSpc>
                <a:spcPts val="2100"/>
              </a:lnSpc>
              <a:defRPr sz="1500" b="1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Cost Savings:</a:t>
            </a:r>
            <a:r>
              <a:rPr b="0"/>
              <a:t> ₹2,10,000/month reduction in emergency costs </a:t>
            </a:r>
          </a:p>
          <a:p>
            <a:pPr algn="ctr">
              <a:lnSpc>
                <a:spcPts val="2100"/>
              </a:lnSpc>
              <a:defRPr sz="1500" b="1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Lives Saved:</a:t>
            </a:r>
            <a:r>
              <a:rPr b="0"/>
              <a:t> Faster response times, consistent blood availability </a:t>
            </a:r>
          </a:p>
          <a:p>
            <a:pPr algn="ctr">
              <a:lnSpc>
                <a:spcPts val="2100"/>
              </a:lnSpc>
              <a:defRPr sz="1500" b="1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Proven Impact:</a:t>
            </a:r>
            <a:r>
              <a:rPr b="0"/>
              <a:t> Detailed data shows real operational benefits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push dir="u"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0"/>
          <p:cNvSpPr txBox="1"/>
          <p:nvPr/>
        </p:nvSpPr>
        <p:spPr>
          <a:xfrm>
            <a:off x="3324044" y="1804034"/>
            <a:ext cx="2495912" cy="533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300"/>
              </a:lnSpc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Thank You!</a:t>
            </a:r>
          </a:p>
        </p:txBody>
      </p:sp>
      <p:sp>
        <p:nvSpPr>
          <p:cNvPr id="192" name="Text 1"/>
          <p:cNvSpPr txBox="1"/>
          <p:nvPr/>
        </p:nvSpPr>
        <p:spPr>
          <a:xfrm>
            <a:off x="3545923" y="2581275"/>
            <a:ext cx="2052036" cy="253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100"/>
              </a:lnSpc>
              <a:defRPr sz="1500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Questions &amp; Discussion</a:t>
            </a:r>
          </a:p>
        </p:txBody>
      </p:sp>
      <p:sp>
        <p:nvSpPr>
          <p:cNvPr id="193" name="Text 2"/>
          <p:cNvSpPr txBox="1"/>
          <p:nvPr/>
        </p:nvSpPr>
        <p:spPr>
          <a:xfrm>
            <a:off x="3252757" y="3152775"/>
            <a:ext cx="2638367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sz="1000">
                <a:solidFill>
                  <a:srgbClr val="D0D0D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AI-Driven Blood Demand Prediction System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fade/>
      </p:transition>
    </mc:Choice>
    <mc:Fallback xmlns:a14="http://schemas.microsoft.com/office/drawing/2010/main" xmlns:m="http://schemas.openxmlformats.org/officeDocument/2006/math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1061</Words>
  <Application>Microsoft Office PowerPoint</Application>
  <PresentationFormat>On-screen Show (16:9)</PresentationFormat>
  <Paragraphs>229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Times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BUSINESS CASE</vt:lpstr>
      <vt:lpstr>The Problem &amp; Market Need</vt:lpstr>
      <vt:lpstr>The AI-Driven Solution (What We Built) </vt:lpstr>
      <vt:lpstr>Business Impact &amp; Value Proposition</vt:lpstr>
      <vt:lpstr>PROJECT CHARTER  </vt:lpstr>
      <vt:lpstr>Project Vision &amp; Strategic Importance</vt:lpstr>
      <vt:lpstr>Solution Overview &amp; Value Proposition</vt:lpstr>
      <vt:lpstr>Stakeholder Impact, Feasibility &amp; Success Metrics </vt:lpstr>
      <vt:lpstr>PROJECT 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Kellampalli Saathvik</cp:lastModifiedBy>
  <cp:revision>1</cp:revision>
  <dcterms:modified xsi:type="dcterms:W3CDTF">2025-12-29T06:37:58Z</dcterms:modified>
</cp:coreProperties>
</file>