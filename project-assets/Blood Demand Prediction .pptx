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24"/>
  </p:notesMasterIdLst>
  <p:sldIdLst>
    <p:sldId id="256" r:id="rId2"/>
    <p:sldId id="277" r:id="rId3"/>
    <p:sldId id="257" r:id="rId4"/>
    <p:sldId id="258" r:id="rId5"/>
    <p:sldId id="271" r:id="rId6"/>
    <p:sldId id="259" r:id="rId7"/>
    <p:sldId id="269" r:id="rId8"/>
    <p:sldId id="260" r:id="rId9"/>
    <p:sldId id="273" r:id="rId10"/>
    <p:sldId id="261" r:id="rId11"/>
    <p:sldId id="274" r:id="rId12"/>
    <p:sldId id="262" r:id="rId13"/>
    <p:sldId id="275" r:id="rId14"/>
    <p:sldId id="263" r:id="rId15"/>
    <p:sldId id="270" r:id="rId16"/>
    <p:sldId id="276" r:id="rId17"/>
    <p:sldId id="272" r:id="rId18"/>
    <p:sldId id="264" r:id="rId19"/>
    <p:sldId id="265" r:id="rId20"/>
    <p:sldId id="266" r:id="rId21"/>
    <p:sldId id="267" r:id="rId22"/>
    <p:sldId id="268" r:id="rId23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C034B0-F630-4AB4-A2E7-DB9175A99FB4}" v="32" dt="2025-12-22T03:19:05.1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325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068E-F3CC-EE20-4AF4-9DEF2E686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E619C-4425-68CF-11CF-715F54A73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ED70C-06FF-8759-E29A-9B20407C18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20442-DAF4-0572-7B1F-C96EE19942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677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10059-9822-9E82-947B-0B126E0A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6D79F-F9C6-AA38-670F-2DEA1E023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9644DA-75E1-37CA-B9C3-6022C86F5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937A39-68CE-2A4B-E0FB-E63925C999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454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01095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63368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29229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938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6013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5423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3832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68898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33243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4995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34651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0906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12/22/2025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3844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9326" y="1670685"/>
            <a:ext cx="71253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Demand Prediction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2284729" y="2508885"/>
            <a:ext cx="457454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Emergency Preparedness System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885876" y="3286125"/>
            <a:ext cx="3372129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Innovation for Better Resource Management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4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E33BCE-8572-1A52-FB10-A93D2A13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9F193E-2C81-3D04-4431-C4B74A86426C}"/>
              </a:ext>
            </a:extLst>
          </p:cNvPr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27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ED708F-88BA-FE35-E825-4D76B0F4D4D5}"/>
              </a:ext>
            </a:extLst>
          </p:cNvPr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banks are critical lifelines during emergencies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Sudden spikes occur during accidents, surgeries, disasters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planning leads to stock-outs and delayed care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shift from reactive to proactive planning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88831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Used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LM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Napkin AI</a:t>
            </a: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Overview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81"/>
            <a:ext cx="808329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blood bank operations rely on historical averages and manual planning.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2110"/>
            <a:ext cx="7620000" cy="1154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Delayed response during emergencies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Frequent stock-outs and high procurement costs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predictive capability for demand spikes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bucket of water&#10;&#10;AI-generated content may be incorrect.">
            <a:extLst>
              <a:ext uri="{FF2B5EF4-FFF2-40B4-BE49-F238E27FC236}">
                <a16:creationId xmlns:a16="http://schemas.microsoft.com/office/drawing/2014/main" id="{E9FDB70D-AFAF-14A4-9AC8-277C7AE6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610" y="78723"/>
            <a:ext cx="4790779" cy="4763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51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1"/>
          <a:ext cx="7924800" cy="2011680"/>
        </p:xfrm>
        <a:graphic>
          <a:graphicData uri="http://schemas.openxmlformats.org/drawingml/2006/table">
            <a:tbl>
              <a:tblPr/>
              <a:tblGrid>
                <a:gridCol w="396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Source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Historical Blood Usage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Identify consumption trends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Accident Records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 emergency demand spikes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Surgery Schedules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 planned blood usage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Seasonal Trends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 for predictable variations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Inputs for Prediction</a:t>
            </a:r>
            <a:endParaRPr lang="en-US" sz="2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EDAE19-8B95-4F71-7F8F-A19053514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a tree with roots&#10;&#10;AI-generated content may be incorrect.">
            <a:extLst>
              <a:ext uri="{FF2B5EF4-FFF2-40B4-BE49-F238E27FC236}">
                <a16:creationId xmlns:a16="http://schemas.microsoft.com/office/drawing/2014/main" id="{E69EB6E1-6B95-09E9-569B-E726CB02E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9125" y="169558"/>
            <a:ext cx="4645749" cy="4706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99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0"/>
          <a:ext cx="7924800" cy="1158240"/>
        </p:xfrm>
        <a:graphic>
          <a:graphicData uri="http://schemas.openxmlformats.org/drawingml/2006/table">
            <a:tbl>
              <a:tblPr/>
              <a:tblGrid>
                <a:gridCol w="132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6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AB+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1,105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2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1,410</a:t>
                      </a:r>
                      <a:endParaRPr lang="en-US" sz="10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Blood Demand Trends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9600" y="2560320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O+ has highest demand; demand increases seasonally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blood groups&#10;&#10;AI-generated content may be incorrect.">
            <a:extLst>
              <a:ext uri="{FF2B5EF4-FFF2-40B4-BE49-F238E27FC236}">
                <a16:creationId xmlns:a16="http://schemas.microsoft.com/office/drawing/2014/main" id="{487D4D66-3C86-8DBE-0C3B-5730849AA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18" y="84779"/>
            <a:ext cx="7179764" cy="475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47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0"/>
          <a:ext cx="7924800" cy="1607820"/>
        </p:xfrm>
        <a:graphic>
          <a:graphicData uri="http://schemas.openxmlformats.org/drawingml/2006/table">
            <a:tbl>
              <a:tblPr/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Type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Patients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Required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Road Accident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 units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Accident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units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Natural Disaster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units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Demand Spikes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9600" y="3009900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</a:t>
            </a: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Cannot handle with average-based planning alone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emergency events&#10;&#10;AI-generated content may be incorrect.">
            <a:extLst>
              <a:ext uri="{FF2B5EF4-FFF2-40B4-BE49-F238E27FC236}">
                <a16:creationId xmlns:a16="http://schemas.microsoft.com/office/drawing/2014/main" id="{231C8E18-9DB4-BEBE-050C-D293AA07B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641" y="127169"/>
            <a:ext cx="6432718" cy="465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93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Prediction System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Historical data, accident records, surgery schedules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model analyzes patterns and trends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Demand forecasts and stock level recommendations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Alerts to blood banks for proactive planning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comparison between a stock and a comparison&#10;&#10;AI-generated content may be incorrect.">
            <a:extLst>
              <a:ext uri="{FF2B5EF4-FFF2-40B4-BE49-F238E27FC236}">
                <a16:creationId xmlns:a16="http://schemas.microsoft.com/office/drawing/2014/main" id="{807994AB-351E-604B-8D7D-66EFDE7A1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77" y="285750"/>
            <a:ext cx="724524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378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0"/>
          <a:ext cx="7924800" cy="1607820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Predicted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Variance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1,268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1,245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1,452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1,470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1,580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1,602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4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1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Prediction Accuracy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09600" y="3009900"/>
            <a:ext cx="8083296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Predictions are close to actual demand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white lines and numbers&#10;&#10;AI-generated content may be incorrect.">
            <a:extLst>
              <a:ext uri="{FF2B5EF4-FFF2-40B4-BE49-F238E27FC236}">
                <a16:creationId xmlns:a16="http://schemas.microsoft.com/office/drawing/2014/main" id="{E356D0DF-1B7E-344C-CC35-DE69F9010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90" y="181669"/>
            <a:ext cx="7505619" cy="4584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54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30558C59-8F87-638F-A22F-0717282A4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389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2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blood pressure&#10;&#10;AI-generated content may be incorrect.">
            <a:extLst>
              <a:ext uri="{FF2B5EF4-FFF2-40B4-BE49-F238E27FC236}">
                <a16:creationId xmlns:a16="http://schemas.microsoft.com/office/drawing/2014/main" id="{A417C20F-0A9B-D7BF-7AF9-FA2516EC6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098" y="979032"/>
            <a:ext cx="6271803" cy="318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918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249682"/>
          <a:ext cx="7924800" cy="1973580"/>
        </p:xfrm>
        <a:graphic>
          <a:graphicData uri="http://schemas.openxmlformats.org/drawingml/2006/table">
            <a:tbl>
              <a:tblPr/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6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Stock-outs/month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Procurement Cost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₹3,50,000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₹1,40,000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Blood Wastage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47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 Time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 hrs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 hrs</a:t>
                      </a:r>
                      <a:endParaRPr lang="en-US" sz="10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Before vs After</a:t>
            </a:r>
            <a:endParaRPr lang="en-US" sz="2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Cost-Benefit Analysis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Software, data integration, staff training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₹2,10,000/month in emergency procurement costs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2-3 months for ROI at scale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Lives saved, better resource utilization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4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Assessment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Existing AI/ML infrastructure is mature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Integrates with existing blood bank systems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Transparent, supports human decision-making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Outcome:</a:t>
            </a:r>
            <a:r>
              <a:rPr lang="en-US" sz="13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Highly feasible for implementation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5109" y="609600"/>
            <a:ext cx="34136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65754" y="2038350"/>
            <a:ext cx="681237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Reactive to Proactive: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AI-driven prediction enables better planning </a:t>
            </a:r>
            <a:endParaRPr lang="en-US" sz="15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Savings: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₹2,10,000/month reduction in emergency costs </a:t>
            </a:r>
            <a:endParaRPr lang="en-US" sz="15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Saved: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Faster response times, consistent blood availability </a:t>
            </a:r>
            <a:endParaRPr lang="en-US" sz="15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Impact:</a:t>
            </a: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Detailed data shows real operational benefits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3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4044" y="1804034"/>
            <a:ext cx="249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545923" y="2581275"/>
            <a:ext cx="205203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52758" y="3152775"/>
            <a:ext cx="2638365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Blood Demand Prediction System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</TotalTime>
  <Words>433</Words>
  <Application>Microsoft Office PowerPoint</Application>
  <PresentationFormat>On-screen Show (16:9)</PresentationFormat>
  <Paragraphs>137</Paragraphs>
  <Slides>22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Kellampalli Saathvik</cp:lastModifiedBy>
  <cp:revision>2</cp:revision>
  <dcterms:created xsi:type="dcterms:W3CDTF">2025-12-22T02:56:08Z</dcterms:created>
  <dcterms:modified xsi:type="dcterms:W3CDTF">2025-12-22T03:36:33Z</dcterms:modified>
</cp:coreProperties>
</file>